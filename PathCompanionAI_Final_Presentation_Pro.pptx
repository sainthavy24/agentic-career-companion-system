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50" b="0" i="0" u="none" strike="noStrike">
                <a:solidFill>
                  <a:srgbClr val="000000"/>
                </a:solidFill>
                <a:latin typeface="Arial"/>
              </a:rPr>
              <a:t>Model 1 on unseen test data (249 resumes, 24 classes)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(TF-IDF + LR)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Accuracy</c:v>
                  </c:pt>
                  <c:pt idx="1">
                    <c:v>Macro-F1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0.655</c:v>
                </c:pt>
                <c:pt idx="1">
                  <c:v>0.596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My fine-tuned DistilBERT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Accuracy</c:v>
                  </c:pt>
                  <c:pt idx="1">
                    <c:v>Macro-F1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0.823</c:v>
                </c:pt>
                <c:pt idx="1">
                  <c:v>0.751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6E9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6400">
                <a:solidFill>
                  <a:srgbClr val="FFFFFF"/>
                </a:solidFill>
                <a:latin typeface="Segoe UI"/>
              </a:defRPr>
            </a:pPr>
            <a:r>
              <a:t>PathCompanion AI</a:t>
            </a:r>
          </a:p>
          <a:p>
            <a:pPr algn="ctr">
              <a:spcBef>
                <a:spcPts val="1500"/>
              </a:spcBef>
              <a:defRPr sz="3600">
                <a:solidFill>
                  <a:srgbClr val="D2D2D2"/>
                </a:solidFill>
                <a:latin typeface="Segoe UI"/>
              </a:defRPr>
            </a:pPr>
            <a:r>
              <a:t>An Agentic Career and Talent Companion System</a:t>
            </a:r>
          </a:p>
          <a:p>
            <a:br/>
            <a:pPr algn="ctr">
              <a:defRPr sz="2200">
                <a:solidFill>
                  <a:srgbClr val="BEBEBE"/>
                </a:solidFill>
                <a:latin typeface="Segoe UI"/>
              </a:defRPr>
            </a:pPr>
            <a:r>
              <a:t>BSc. Software Engineering</a:t>
            </a:r>
            <a:br/>
            <a:r>
              <a:t>Student: Sainthavy Yogaraththinam</a:t>
            </a:r>
            <a:br/>
            <a:r>
              <a:t>Supervisor: [Supervisor Name]</a:t>
            </a:r>
            <a:br/>
            <a:r>
              <a:t>ICBT Campus, Jaffna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Introduction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Problem Statement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Objectives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Literature Review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Proposed Solution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Functionalities &amp; Non-functionalities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Methodology &amp; Technology Stack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Limitations &amp; Lessons Learned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Future Recommendation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Career development today is fragmented across disconnected platforms.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PathCompanion AI provides a single full-stack web application.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Integrates six cooperating AI agents through a shared memory and event bus: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Job Scout, Skill Gap Analyzer, Learning Resource Finder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Resume Architect, Mock Interview Agent, Career Path Planner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Hybrid intelligence design using two custom-trained machine-learning models.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Career development today is fragmented across disconnected tools.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Job discovery is inefficient due to semantic mismatch.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Skill gaps are invisible without structured feedback.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Learning paths are unguided and disconnected from the gaps.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Resumes are generic and rarely ATS-optimised per job.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Interview anxiety is unaddressed without realistic rehearsal.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Career progression timelines and next steps are opaque.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Main Objective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Design, implement, and evaluate a multi-agent AI web application for career support.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Sub-Objectives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Train and evaluate a resume-category classification model.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Train and evaluate a multi-label skill-extraction model.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Implement automated job aggregation, gap analysis, and ATS resume generation.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Conduct realistic voice-based mock interviews.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Operate entirely within free-tier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Fragmentation of Career Tooling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Major gap in integration among existing platforms.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Agentic AI Systems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Effectiveness of event-driven multi-agent architectures.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Text Classification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Transfer learning with DistilBERT over TF-IDF baselines.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Skill Extraction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LLM-assisted weak supervision for labelling job descriptions.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Semantic Retrieval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Using pgvector for dense embedding search in PostgreSQL.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Web application (React, FastAPI, Supabase)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Six Coordinated Agents: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Job Scout, Skill Gap Analyzer, Learning Resource Finder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Resume Architect, Mock Interview Agent, Career Path Planner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Interconnected Cascade System: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Actions in one agent automatically update states in others.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Example: Learning a skill automatically refreshes gap analysis and resume drafts.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Functionalities &amp; Non-functionalities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Functional Requirements: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Job aggregation &amp; semantic matching.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Skill extraction &amp; automated gap analysis.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Tailored ATS resume generation.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Voice mock interviews with panic control.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Non-Functional Requirements: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Security (Row-Level Security in Supabase).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Performance (sub-2s latency for interviews).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Zero-cost operation (Free tiers only).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Agile Life Cycle: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16 weeks divided into 8 two-week sprints.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Iterative development to handle ML experiments &amp; API integration.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Requirement Gathering: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Questionnaires to evaluate quantitative prevalence of problems.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Semi-structured interviews to understand qualitative pain points.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Platform analysis of existing disconnected tools.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0" descr=""/>
          <p:cNvGraphicFramePr/>
          <p:nvPr/>
        </p:nvGraphicFramePr>
        <p:xfrm>
          <a:off x="502920" y="123444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Frontend: React 18, Vite, Vanilla CSS.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Backend: FastAPI (Python 3.11, async), Uvicorn.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Database: Supabase (PostgreSQL, pgvector, HNSW indexes).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Machine Learning: scikit-learn, Hugging Face Transformers, PyTorch.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AI Services: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Google Gemini Flash (generation/embeddings).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Groq Llama 3.3 70B &amp; Whisper (chat/STT).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Model Truncation: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Macro-F1 below target for Model 1 due to 256-token truncation of long resumes.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Free-Tier Limits: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System is entirely dependent on external LLM and API free-tier quotas.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Resource Constraints: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Single developer limited parallel workstreams.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Language: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English-only interface in this release.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Lesson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Hybrid AI Architecture: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Effectively reduces external dependencies and operational costs.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Rate Limit Management: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Managing free-tier rate limits requires careful caching and background processing.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User Centric Iteration: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Continuous user feedback (e.g., adding mock-exams) is vital for relevance.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System Design: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Event-driven architecture ensures agents are loosely coupled and robust.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Future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Real-world Release: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Deploy system to students and early-career professionals.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Recruiter Portal: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Add features allowing employers to find candidates.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Multilingual Support: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Expand to Tamil and Sinhala for broader accessibility.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Mobile Application:</a:t>
            </a:r>
          </a:p>
          <a:p>
            <a:pPr lvl="1">
              <a:spcAft>
                <a:spcPts val="1000"/>
              </a:spcAft>
              <a:defRPr sz="2200">
                <a:solidFill>
                  <a:srgbClr val="F0F0F0"/>
                </a:solidFill>
                <a:latin typeface="Segoe UI"/>
              </a:defRPr>
            </a:pPr>
            <a:r>
              <a:t>Develop a mobile client using the same unified backend.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400">
                <a:solidFill>
                  <a:srgbClr val="FFFFFF"/>
                </a:solidFill>
                <a:latin typeface="Segoe UI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Sanh et al. (2019). DistilBERT, a distilled version of BERT.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Pedregosa et al. (2011). Scikit-learn: Machine Learning in Python.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Zhang, Jensen and Plank (2022). Weak Supervision for text classification.</a:t>
            </a:r>
          </a:p>
          <a:p>
            <a:pPr>
              <a:spcBef>
                <a:spcPts val="800"/>
              </a:spcBef>
              <a:spcAft>
                <a:spcPts val="1000"/>
              </a:spcAft>
              <a:defRPr sz="2600">
                <a:solidFill>
                  <a:srgbClr val="F0F0F0"/>
                </a:solidFill>
                <a:latin typeface="Segoe UI"/>
              </a:defRPr>
            </a:pPr>
            <a:r>
              <a:t>Supabase (2026). pgvector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2026-08-14T04:52:30Z</dcterms:created>
  <dcterms:modified xsi:type="dcterms:W3CDTF">2026-08-14T04:52:30Z</dcterms:modified>
</cp:coreProperties>
</file>