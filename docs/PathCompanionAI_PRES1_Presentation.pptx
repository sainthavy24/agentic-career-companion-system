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00000"/>
                </a:solidFill>
                <a:latin typeface="Arial"/>
              </a:rPr>
              <a:t>Model 1 — held-out test set (249 resumes, 24 classes)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(TF-IDF + LR)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Accuracy</c:v>
                </c:pt>
                <c:pt idx="1">
                  <c:v>Macro-F1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0.65500000000000003</c:v>
                </c:pt>
                <c:pt idx="1">
                  <c:v>0.59599999999999997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74-4D91-8359-07DFD53C75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DistilBERT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Accuracy</c:v>
                </c:pt>
                <c:pt idx="1">
                  <c:v>Macro-F1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0.82299999999999995</c:v>
                </c:pt>
                <c:pt idx="1">
                  <c:v>0.751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4-4D91-8359-07DFD53C75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6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PathCompanion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</a:rPr>
              <a:t>An Agentic Career and Talent Companion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CSE 6035 — Development Project  ·  Presentation / VIVA (PRES1)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[Student Name]  ·  [Student ID – Cardiff ID – ICBT ID]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Supervisor: [Supervisor Name]  ·  BSc (Hons) Software Engineering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0E8"/>
                </a:solidFill>
              </a:rPr>
              <a:t>6 AI agents · 2 custom-trained ML models · zero operating cost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The Career Fragmentation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639"/>
                </a:solidFill>
              </a:rPr>
              <a:t>Job seekers today juggle many disconnected platforms. Insight gained in one tool never reaches the others.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Job boards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671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9"/>
                </a:solidFill>
              </a:rPr>
              <a:t>LinkedIn, Indeed, Remotive — search only, no skill feedback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01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Resume builders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1671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9"/>
                </a:solidFill>
              </a:rPr>
              <a:t>Format documents, but never tailor per job (ATS ignored)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18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Course platforms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5844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9"/>
                </a:solidFill>
              </a:rPr>
              <a:t>Teach skills, disconnected from your actual gap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218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Interview practice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5844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9"/>
                </a:solidFill>
              </a:rPr>
              <a:t>Text-based, scripted, unaware of the real job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56048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result: a persistent talent gap.  </a:t>
            </a:r>
            <a:r>
              <a:rPr lang="en-US" sz="1350" dirty="0">
                <a:solidFill>
                  <a:srgbClr val="CADCFC"/>
                </a:solidFill>
              </a:rPr>
              <a:t>Employers cannot find skilled candidates, while capable people cannot see which skills they lack, where to learn them, or how to present themselves — and career coaching is unaffordable for most graduates in developing economies.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Six Key Issues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99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1. Inefficient job discovery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Openings buried across platforms; keyword search misses semantic matches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399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2. Invisible skill gaps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2103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No structured feedback on which skills separate you from a target role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399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3. Unguided learning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30184" y="2103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Free resources exist, but sequencing them needs expertise learners lack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85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4. Generic resumes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ATS rewards per-job keyword alignment; applicants send one resume everywhere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3520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3685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5. Interview anxiety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7992" y="4389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No safe, realistic spoken rehearsal environment exists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3520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6850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6. Opaque career progression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0184" y="4389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What role comes next? Which skills? How long? Nobody tells you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4C8C"/>
                </a:solidFill>
              </a:rPr>
              <a:t>No mainstream tool connects these steps — that integration gap is what this project solves.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Aim: design, implement and evaluate a full-stack, multi-agent AI web application providing end-to-end career support — six cooperating agents over shared memory, with two custom-trained ML models at the analytical core.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0881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Supabase (PostgreSQL + pgvector) schema as shared memory, with row-level security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Train + evaluate Model 1: resume category classifier (Kaggle dataset, 24 classes) vs baseline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Train + evaluate Model 2: multi-label skill extraction (ESCO-aligned, weak supervision)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Job aggregation from free public APIs with hybrid semantic + skill-overlap matching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Skill-gap analysis, learning plans, ATS-tailored resumes, voice mock interviews, career paths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Interconnected cascade: skill learned → gap + resume refresh in &lt; 30 s, non-blocking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39"/>
                </a:solidFill>
              </a:rPr>
              <a:t>Operate entirely within free tiers of all external services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(MoSCoW)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MUST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Register / login; master profile with skills (FR-01)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Aggregate jobs + semantic embeddings (FR-02)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Hybrid match with matched/missing skills (FR-03)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Skill extraction via trained Model 2 (FR-04, FR-05)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Learning plans, ≥3 free resources per skill (FR-06)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Resume classification via trained Model 1 (FR-07)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ATS-tailored resume per job, PDF export (FR-08)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Voice mock interview: TTS + STT + feedback (FR-09)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Career-path mapping (FR-11) · Cascade &lt; 30 s (FR-12)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</a:rPr>
              <a:t>SHOULD / COULD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1508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Panic control with anxiety tracking (FR-10, Should)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Cross-app AI assistant (FR-14, Should)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Mock exam + e-mailed certificates (FR-13, Could — delivered)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Key non-functional requirements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36118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Security: row-level security on every per-user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Performance: interview turn latency ≈ 2 s; streamed replies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Responsiveness: long tasks run in background, UI never blocks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Cost: 100% free-tier services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Reproducibility: versioned notebooks, fixed seeds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3D4C8C"/>
                </a:solidFill>
              </a:rPr>
              <a:t>Agile (Scrum) — eight 2-week sprints, each ending in a demonstrable increment; two sprints dedicated to ML.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P1 Schema + RLS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9384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29384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P2 Job Scout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P3 ML Model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82312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P4 ML Model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08776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08776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P5 Resume + Learning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P6 Interview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61704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061704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P7 Cascade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488168" y="1645920"/>
            <a:ext cx="1316736" cy="868680"/>
          </a:xfrm>
          <a:prstGeom prst="roundRect">
            <a:avLst>
              <a:gd name="adj" fmla="val 6316"/>
            </a:avLst>
          </a:prstGeom>
          <a:solidFill>
            <a:srgbClr val="2F85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488168" y="1645920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P8 Test + Deploy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Frontend: React 18 + Vite, Supabase JS (auth)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Backend: FastAPI (Python 3.11, async), 9 routers + service layer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Data: Supabase — PostgreSQL + pgvector, HNSW indexes, RLS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ML: scikit-learn, Hugging Face Transformers, PyTorch, Colab T4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AI services (free tier): Gemini Flash, Groq Llama 3.3 70B, Groq Whisper, Edge-TTS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Practices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3200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Git + GitHub feature branching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Backlog with MoSCoW priorities; user stories with acceptance criteria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pytest / Vitest; Postman; FastAPI /docs verification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Versioned Colab notebooks — reproducible training (seed 42)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7</a:t>
            </a:r>
            <a:endParaRPr lang="en-US" sz="1000" dirty="0"/>
          </a:p>
        </p:txBody>
      </p:sp>
      <p:pic>
        <p:nvPicPr>
          <p:cNvPr id="4" name="Image 0" descr="/tmp/dg/png/02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51560"/>
            <a:ext cx="667512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371600"/>
            <a:ext cx="2331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761"/>
                </a:solidFill>
              </a:rPr>
              <a:t>3 tiers + ML inference module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9"/>
                </a:solidFill>
              </a:rPr>
              <a:t>Agents never call each other — they share memory (13 tables) and an event bus (agent_events).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9"/>
                </a:solidFill>
              </a:rPr>
              <a:t>REST + SSE streaming; JWT auth; row-level security per user.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0120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D4C8C"/>
                </a:solidFill>
              </a:rPr>
              <a:t>Every module works standalone;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D4C8C"/>
                </a:solidFill>
              </a:rPr>
              <a:t>the cascade makes them cooperate.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 — Two Custom-Trained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1 — Resume Category Classifier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92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Task: map a resume to 1 of 24 occupational categories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Data: Kaggle Resume Dataset — 2,484 resumes, stratified 90/10 split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Baseline: TF-IDF + Logistic Regression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Final: fine-tuned DistilBERT (max 256 tokens)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Serves the Resume agent: category + top-3 confidence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41732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2F855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17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2 — Skill Extraction (multi-label)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92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Task: detect which of 25 ESCO-aligned skills appear in text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Data: ~11,800 public job postings, LLM-assisted weak labelling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Baseline: TF-IDF + One-vs-Rest Logistic Regression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Final: multi-label DistilBERT (sigmoid + BCE, 3 epochs, T4 GPU)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639"/>
                </a:solidFill>
              </a:rPr>
              <a:t>Serves Skill Gap + job matching: present / missing partition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54406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D4C8C"/>
                </a:solidFill>
              </a:rPr>
              <a:t>Why train our own models? Deterministic, reproducible results · no external dependency for the most frequent tasks · a rigorous, quantitatively evaluable engineering contribution.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Model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23444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812280" y="1463040"/>
            <a:ext cx="4892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22639"/>
                </a:solidFill>
              </a:rPr>
              <a:t>Model 1:  +16.8 pts accuracy over the classical baseline (82.3% vs 65.5%). Macro-F1 0.751 — below the 0.80 target due to 256-token truncation and class imbalance (honest limitation, mitigations identified).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22639"/>
                </a:solidFill>
              </a:rPr>
              <a:t>Model 2:  micro-F1 [insert from final run] against the ≥ 0.70 target on ~11,800 postings, 25 labels.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639"/>
                </a:solidFill>
              </a:rPr>
              <a:t>System:  cascade completes &lt; 30 s without blocking the UI; interview turns ≈ 2 s; entire stack runs on free tiers.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claim: the fine-tuned transformer clearly and measurably outperforms the classical baseline on the same split.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Interconnected Cascade — System USP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10</a:t>
            </a:r>
            <a:endParaRPr lang="en-US" sz="1000" dirty="0"/>
          </a:p>
        </p:txBody>
      </p:sp>
      <p:pic>
        <p:nvPicPr>
          <p:cNvPr id="4" name="Image 0" descr="/tmp/dg/png/05_sequence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0881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D4C8C"/>
                </a:solidFill>
              </a:rPr>
              <a:t>Mark a skill as learned → event bus → gap analyses refresh (via Model 2) → resumes flagged — automatic, idempotent, &lt; 30 seconds, UI never blocked.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0E8"/>
                </a:solidFill>
              </a:rPr>
              <a:t>Artefact demonstration — 45% of this assessment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7556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709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Login → Dashboard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1122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Stack live: backend + database connected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7556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49440" y="1709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Profile &amp; Skills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21122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Shared memory all agents read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770632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9260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Job Scout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32826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Sync + semantic matches with match 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770632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29260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Skill Gap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49440" y="32826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Model 2 live — present vs missing skills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41064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409651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34440" y="4050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Learning → mark learned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44531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Watch the cascade refresh gap + flag resume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941064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409651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9440" y="4050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Resume classify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49440" y="44531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Model 1 live — category + confidence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111496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52669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23444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Voice Interview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34440" y="5623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Spoken Q&amp;A + panic control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5111496"/>
            <a:ext cx="5440680" cy="987552"/>
          </a:xfrm>
          <a:prstGeom prst="roundRect">
            <a:avLst>
              <a:gd name="adj" fmla="val 6481"/>
            </a:avLst>
          </a:prstGeom>
          <a:solidFill>
            <a:srgbClr val="2A3572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52669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</a:rPr>
              <a:t>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94944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Mock Exam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49440" y="5623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Added scope: score + certificate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0E8"/>
                </a:solidFill>
              </a:rPr>
              <a:t>System is already running with realistic data prepared, as required by the brief.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Knowledge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Engineering contribution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A working reference architecture for event-driven multi-agent AI over a relational + vector database (pgvector), where agents cooperate through shared memory without direct coupling — every module standalone AND interconnected.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Machine-learning contribution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80136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A reproducible, quantitatively evaluated hybrid-intelligence pattern: custom-trained DistilBERT models for deterministic analysis tasks, benchmarked against classical baselines, with LLMs reserved for open-ended generation.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Methodological contribution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Demonstrates LLM-assisted weak supervision (Zhang et al., 2022) applied end-to-end by an individual: from public data to a served multi-label skill-extraction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4904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Social contribution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17880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9"/>
                </a:solidFill>
              </a:rPr>
              <a:t>A zero-marginal-cost career companion — realistic to release to students and graduates who cannot afford professional coaching, including anxiety-aware interview rehearsal.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C8C"/>
                </a:solidFill>
              </a:rPr>
              <a:t>Directly addresses all three learning outcomes: problem specification, literature-grounded design, and evaluated artefact.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75720" y="6419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0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</a:rPr>
              <a:t>Honest 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Model 1 macro-F1 0.751 &lt; 0.80 target — 256-token truncation + class imbalance; fixes: 512 tokens, class weighting, more epochs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Model 2 vocabulary limited to 25 high-frequency skills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Weak labels inherit LLM annotation noise (gold subset mitigates)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Free-tier latency not guaranteed under provider throttling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7960" y="155448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Daily Journal agent + monthly Career Progress Summariser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Expanded ESCO vocabulary with hierarchical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One-click apply with tailored resume; e-mail/WhatsApp automation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Recruiter portal over anonymised profiles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39"/>
                </a:solidFill>
              </a:rPr>
              <a:t>Multilingual UI (Tamil, Sinhala) + React Native mobile client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0E8"/>
                </a:solidFill>
              </a:rPr>
              <a:t>PathCompanion AI — 6 agents · 2 trained models · 13 tables · 1 shared memory · 0 running cost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1533</Words>
  <Application>Microsoft Office PowerPoint</Application>
  <PresentationFormat>Widescreen</PresentationFormat>
  <Paragraphs>188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Sainthavy Yogaraththinam</cp:lastModifiedBy>
  <cp:revision>1</cp:revision>
  <dcterms:created xsi:type="dcterms:W3CDTF">2026-08-14T04:22:22Z</dcterms:created>
  <dcterms:modified xsi:type="dcterms:W3CDTF">2026-08-14T17:20:32Z</dcterms:modified>
</cp:coreProperties>
</file>